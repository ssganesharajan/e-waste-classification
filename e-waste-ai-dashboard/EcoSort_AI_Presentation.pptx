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926080" cy="365760"/>
          </a:xfrm>
          <a:prstGeom prst="roundRect">
            <a:avLst/>
          </a:prstGeom>
          <a:solidFill>
            <a:srgbClr val="062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6B6D4"/>
                </a:solidFill>
              </a:defRPr>
            </a:pPr>
            <a:r>
              <a:t>DNN + IoT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8FAFC"/>
                </a:solidFill>
              </a:defRPr>
            </a:pPr>
            <a:r>
              <a:t>EcoSort AI: Smart E-Waste Classification</a:t>
            </a: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Automated Electronic Waste Identification, Hazard Detection &amp; Material Recovery with MobileNetV2 &amp; ESP32-CAM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291840" cy="38404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800">
                <a:solidFill>
                  <a:srgbClr val="F59E0B"/>
                </a:solidFill>
              </a:defRPr>
            </a:pPr>
            <a:r>
              <a:t>⚠️ The E-Waste Challenge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50M+ Metric Tons of electronic waste generated annually worldwide.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Toxic Leakage: Improper landfill disposal releases Lead, Mercury, and Cadmium into soil and water tables.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Manual Sorting Bottlenecks: Inefficient, hazardous to workers, and causes low recovery of precious metals (Au, Ag, Cu, Li).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468880"/>
            <a:ext cx="3383280" cy="38404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800">
                <a:solidFill>
                  <a:srgbClr val="10B981"/>
                </a:solidFill>
              </a:defRPr>
            </a:pPr>
            <a:r>
              <a:t>💡 The EcoSort AI Solution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Edge-to-Cloud Pipeline: ESP32-CAM captures physical waste items on conveyor/drop-boxes.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DNN Visual Inference: MobileNetV2 TFLite classifies 10 discrete e-waste categories in &lt;50ms.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Instant Recycling Guidance: Provides automated hazard warnings, dismantling protocols, and recoverable material breakdowns.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468880"/>
            <a:ext cx="3291840" cy="38404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800">
                <a:solidFill>
                  <a:srgbClr val="06B6D4"/>
                </a:solidFill>
              </a:defRPr>
            </a:pPr>
            <a:r>
              <a:t>🎯 Core Objectives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Zero-Downtime Hot Reload: Upload and hot-swap new TFLite models on the fly without server restart.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Multi-Modal Ingestion: Works via ESP32-CAM WiFi streams, PC Webcams, or manual batch image uploads.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Actionable Circular Economy: Computes real-time estimated CO2 emissions prevented and recovery percentages.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System Architecture &amp; Engineering Workflow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Seamless Integration of IoT Edge Sensing, Deep Neural Network Inference &amp; Industrial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700">
                <a:solidFill>
                  <a:srgbClr val="06B6D4"/>
                </a:solidFill>
              </a:defRPr>
            </a:pPr>
            <a:r>
              <a:t>1. IoT Edge Sensing Layer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AI-Thinker ESP32-CAM: Low-cost edge micro-controller with OV2640 camera sensor.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Wireless Streaming: Runs C++ Arduino firmware hosting an HTTP capture stream &amp; POST client.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Trigger Modes: Automated conveyor capture, hardware push button, or polling over LAN.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Failover Support: Integrated fallback to local USB Webcams or direct file drag &amp; drop.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700">
                <a:solidFill>
                  <a:srgbClr val="3B82F6"/>
                </a:solidFill>
              </a:defRPr>
            </a:pPr>
            <a:r>
              <a:t>2. AI Inference Backend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MobileNetV2 Architecture: Lightweight depthwise separable convolutions optimized for edge speed.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TensorFlow Lite: Quantized model (e_waste_classifier.tflite) for ultra-low latency (&lt;50ms).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FastAPI Asynchronous Server: High-throughput Python REST API endpoints for telemetry and inference.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Dynamic Model Hot-Swap: In-memory tensor validation allows switching model versions without server downtime.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29184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700">
                <a:solidFill>
                  <a:srgbClr val="10B981"/>
                </a:solidFill>
              </a:defRPr>
            </a:pPr>
            <a:r>
              <a:t>3. ThingsBoard Dashboard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Industrial Dark UI: Live KPI ribbon, system uptime, and multi-camera live video monitor.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Knowledge Engine: 10 categorized waste items with hazard badges (Red/Yellow/Green).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Real-Time Analytics: Top-3 prediction confidence distribution charts &amp; scan history log.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Role-Based Access: Secure session-based Admin portal with CSV telemetry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10192A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BAE6FD"/>
                </a:solidFill>
              </a:defRPr>
            </a:pPr>
            <a:r>
              <a:t>Data Pipeline Flow: ESP32-CAM Sensor ➔ HTTP Ingestion ➔ TFLite Preprocessing ➔ MobileNetV2 Inference ➔ Knowledge Base Lookup ➔ Real-Time UI Dispatch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Performance Results, Environmental Impact &amp; Roadmap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Demonstrated System Efficacy, Sustainability Metrics, and Autonomous Sorting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1097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b="1" sz="2200">
                <a:solidFill>
                  <a:srgbClr val="06B6D4"/>
                </a:solidFill>
              </a:defRPr>
            </a:pPr>
            <a:r>
              <a:t>10 Classes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E-Waste Categories Covered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554480"/>
            <a:ext cx="2468880" cy="1097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b="1" sz="2200">
                <a:solidFill>
                  <a:srgbClr val="3B82F6"/>
                </a:solidFill>
              </a:defRPr>
            </a:pPr>
            <a:r>
              <a:t>&lt; 50 ms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Average Inference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2468880" cy="1097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b="1" sz="2200">
                <a:solidFill>
                  <a:srgbClr val="10B981"/>
                </a:solidFill>
              </a:defRPr>
            </a:pPr>
            <a:r>
              <a:t>90%+ Recovery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Valuable Metal Potential (Au, Cu, Li)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554480"/>
            <a:ext cx="2468880" cy="1097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b="1" sz="2200">
                <a:solidFill>
                  <a:srgbClr val="F59E0B"/>
                </a:solidFill>
              </a:defRPr>
            </a:pPr>
            <a:r>
              <a:t>100% Zero-Downtime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Dynamic Model Hot-Reloading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212080" cy="34747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700">
                <a:solidFill>
                  <a:srgbClr val="10B981"/>
                </a:solidFill>
              </a:defRPr>
            </a:pPr>
            <a:r>
              <a:t>🌱 Environmental &amp; Operational Impact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Hazard Mitigation: Alerts technicians immediately to toxic batteries, mercury backlights, and leaded cathode tubes.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Automated Circular Economy: Identifies recoverable Gold, Silver, Palladium, Copper, and Lithium for smelting facilities.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Carbon Footprint Reduction: Tracks cumulative CO2 savings (kg prevented) for every unit diverted from landfills.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Cost-Effective Industrial Deployment: Built on accessible hardware (&lt;$10 ESP32-CAM) with edge intelligence.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834640"/>
            <a:ext cx="5212080" cy="34747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700">
                <a:solidFill>
                  <a:srgbClr val="06B6D4"/>
                </a:solidFill>
              </a:defRPr>
            </a:pPr>
            <a:r>
              <a:t>🚀 Future Scope &amp; Enhancements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Robotic Arm Integration: Connect servo-driven pneumatic actuators for automatic mechanical bin sorting based on classification outputs.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Edge TPU / NPU Acceleration: Execute on-device neural inference directly on edge silicon (e.g. Raspberry Pi AI Kit or Coral TPU).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Spectral &amp; X-Ray Analysis: Multi-spectral imaging integration to identify hidden battery chemistries and solder compositions.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Decentralized Recycling Ledger: Blockchain-verified tracking of recycled rare-earth minerals for corporate ESG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